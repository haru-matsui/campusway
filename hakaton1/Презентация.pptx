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5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77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3954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CampusWay – Твой цифровой помощник по кампусу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06046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Присоединяйтесь к нам в путешествии по инновационному решению для адаптации и навигации в университетской среде.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06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Команда: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89" y="5884452"/>
            <a:ext cx="7556421" cy="287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1.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Утяев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Радмир, ТОП-104Б</a:t>
            </a:r>
            <a:b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</a:br>
            <a:endParaRPr lang="ru-RU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2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Ярославцев Михаил , ТОП-103Б</a:t>
            </a:r>
            <a:b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3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Зарипов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Дамир, ТОП-103Б</a:t>
            </a:r>
          </a:p>
          <a:p>
            <a:pPr>
              <a:lnSpc>
                <a:spcPts val="1400"/>
              </a:lnSpc>
            </a:pPr>
            <a:endParaRPr lang="en-US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4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Исламгулов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Самир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, ТОП-103Б</a:t>
            </a:r>
          </a:p>
          <a:p>
            <a:pPr>
              <a:lnSpc>
                <a:spcPts val="1400"/>
              </a:lnSpc>
            </a:pPr>
            <a:endParaRPr lang="en-US" dirty="0"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400"/>
              </a:lnSpc>
            </a:pPr>
            <a:r>
              <a:rPr lang="en-US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5</a:t>
            </a:r>
            <a:r>
              <a:rPr lang="ru-RU" dirty="0"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. Политов Сергей, ТОП-103Б</a:t>
            </a:r>
            <a:endParaRPr lang="ru-RU" b="1" dirty="0">
              <a:latin typeface="Roboto Condensed Light" pitchFamily="2" charset="0"/>
              <a:ea typeface="Roboto Condensed Light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71D2F4-9DE2-142C-8167-8E01E05FD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288" y="778486"/>
            <a:ext cx="4527382" cy="53003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950" y="6410325"/>
            <a:ext cx="360045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8460"/>
            <a:ext cx="9816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</a:t>
            </a:r>
            <a:r>
              <a:rPr lang="ru-RU" sz="4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7069" y="2186658"/>
            <a:ext cx="69244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2800" dirty="0">
                <a:latin typeface="Inter"/>
              </a:rPr>
              <a:t>Студенты первого курса теряются в университете: не могут найти аудитории, не знают о мероприятиях, не понимают как работают различные сервисы вуза.</a:t>
            </a:r>
            <a:endParaRPr lang="ru-RU" sz="2800" dirty="0">
              <a:latin typeface="Inter"/>
              <a:ea typeface="Roboto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 flipV="1">
            <a:off x="6666271" y="8931132"/>
            <a:ext cx="105195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15940" y="4499602"/>
            <a:ext cx="6924437" cy="229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-Данный проект в разы облегчит</a:t>
            </a:r>
          </a:p>
          <a:p>
            <a:pPr>
              <a:lnSpc>
                <a:spcPts val="1600"/>
              </a:lnSpc>
            </a:pPr>
            <a:b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</a:br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 ориентирование в инфраструктуре кампуса</a:t>
            </a:r>
          </a:p>
          <a:p>
            <a:pPr>
              <a:lnSpc>
                <a:spcPts val="1600"/>
              </a:lnSpc>
            </a:pPr>
            <a:endParaRPr lang="ru-RU" sz="2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  <a:buBlip>
                <a:blip r:embed="rId3"/>
              </a:buBlip>
            </a:pPr>
            <a:endParaRPr lang="ru-RU" sz="2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Roboto Condensed Light" pitchFamily="2" charset="0"/>
              <a:cs typeface="Arial" panose="020B0604020202020204" pitchFamily="34" charset="0"/>
            </a:endParaRPr>
          </a:p>
          <a:p>
            <a:pPr>
              <a:lnSpc>
                <a:spcPts val="1600"/>
              </a:lnSpc>
            </a:pPr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 Condensed Light" pitchFamily="2" charset="0"/>
                <a:cs typeface="Arial" panose="020B0604020202020204" pitchFamily="34" charset="0"/>
              </a:rPr>
              <a:t>-Потребителем проекта являются студенты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5694878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249" y="2480072"/>
            <a:ext cx="5564862" cy="431827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6997498"/>
            <a:ext cx="2438400" cy="123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2801"/>
            <a:ext cx="8349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Последствия дезориентации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484776" y="3021981"/>
            <a:ext cx="7208921" cy="3890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spcBef>
                <a:spcPts val="1200"/>
              </a:spcBef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Информация о событиях и кружках разрознена, что затрудняет её поиск и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актуализацию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ru-RU" sz="24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>
              <a:lnSpc>
                <a:spcPts val="285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удобного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быстрого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инструмента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поиска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конкретных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помещений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ru-RU" sz="24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>
              <a:lnSpc>
                <a:spcPts val="285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Сложность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ориентации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может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привести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вовлеченности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студентов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активную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университетскую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жизнь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академические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процессы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  <a:p>
            <a:pPr marL="342900" indent="-342900">
              <a:lnSpc>
                <a:spcPts val="2850"/>
              </a:lnSpc>
              <a:spcBef>
                <a:spcPts val="1200"/>
              </a:spcBef>
              <a:buSzPct val="100000"/>
              <a:buFontTx/>
              <a:buChar char="•"/>
            </a:pPr>
            <a:endParaRPr lang="en-US" sz="2400" dirty="0"/>
          </a:p>
          <a:p>
            <a:pPr marL="342900" indent="-342900" algn="l">
              <a:lnSpc>
                <a:spcPts val="2850"/>
              </a:lnSpc>
              <a:spcBef>
                <a:spcPts val="1200"/>
              </a:spcBef>
              <a:buSzPct val="100000"/>
              <a:buChar char="•"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84776" y="3782416"/>
            <a:ext cx="7610365" cy="1498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84776" y="4803074"/>
            <a:ext cx="7610365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6410325"/>
            <a:ext cx="3600450" cy="1819275"/>
          </a:xfrm>
          <a:prstGeom prst="rect">
            <a:avLst/>
          </a:prstGeom>
        </p:spPr>
      </p:pic>
      <p:pic>
        <p:nvPicPr>
          <p:cNvPr id="9" name="Picture 2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079" y="2161580"/>
            <a:ext cx="3470280" cy="45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475"/>
            <a:ext cx="124176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Существующие решения и их ограничения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78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текущих подходов к навигации и информированию выявляет значительные недостатки, которые CampusWay призван устранить.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29000"/>
            <a:ext cx="4196358" cy="3855006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39852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0888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318027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084" y="39959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Бумажные схемы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4863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 устаревают, их неудобно использовать, особенно в динамичной университетской среде.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429000"/>
            <a:ext cx="4196358" cy="3855006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216962" y="339852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4860" y="30888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992" y="31831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399597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Разрозненные чаты и сайты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4486394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Информация часто теряется в потоке сообщений, отсутствует централизованная система навигации.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429000"/>
            <a:ext cx="4196358" cy="3855006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3398520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308883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462" y="318318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3995976"/>
            <a:ext cx="30697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Аналоги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4486394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Такие как Google Maps, не предлагают достаточной детализации по аудиториям и событиям внутри университетских корпусов, а также не учитывают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специфику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вуза.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CampusWay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Новизна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и </a:t>
            </a: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Уникальность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744" cy="2773799"/>
          </a:xfrm>
          <a:prstGeom prst="roundRect">
            <a:avLst>
              <a:gd name="adj" fmla="val 196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Единый интерфейс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8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CampusWay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 </a:t>
            </a:r>
            <a:r>
              <a:rPr lang="ru-RU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сайт, который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объединяет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навигацию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события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студенческие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клубы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одном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интуитивно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понятном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интерфейсе</a:t>
            </a:r>
            <a:r>
              <a:rPr lang="en-US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1748" y="2650808"/>
            <a:ext cx="3664863" cy="2773799"/>
          </a:xfrm>
          <a:prstGeom prst="roundRect">
            <a:avLst>
              <a:gd name="adj" fmla="val 196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88524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Локализованное решение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72999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Разработано</a:t>
            </a: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с </a:t>
            </a:r>
            <a:r>
              <a:rPr lang="en-US" sz="17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учетом</a:t>
            </a: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всех</a:t>
            </a: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особенностей</a:t>
            </a: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и </a:t>
            </a:r>
            <a:r>
              <a:rPr lang="en-US" sz="17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потребностей</a:t>
            </a:r>
            <a:r>
              <a:rPr lang="ru-RU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вуз</a:t>
            </a:r>
            <a:r>
              <a:rPr lang="ru-RU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а</a:t>
            </a:r>
            <a:r>
              <a:rPr lang="en-US" sz="175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14624" y="58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762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922" y="7355206"/>
            <a:ext cx="1730477" cy="874394"/>
          </a:xfrm>
          <a:prstGeom prst="rect">
            <a:avLst/>
          </a:prstGeom>
        </p:spPr>
      </p:pic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52400" y="15240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8223" y="1921015"/>
            <a:ext cx="3765600" cy="3964840"/>
          </a:xfrm>
          <a:prstGeom prst="rect">
            <a:avLst/>
          </a:prstGeom>
        </p:spPr>
      </p:pic>
      <p:sp>
        <p:nvSpPr>
          <p:cNvPr id="19" name="Shape 7"/>
          <p:cNvSpPr/>
          <p:nvPr/>
        </p:nvSpPr>
        <p:spPr>
          <a:xfrm>
            <a:off x="6280189" y="5569923"/>
            <a:ext cx="7556421" cy="1052670"/>
          </a:xfrm>
          <a:prstGeom prst="roundRect">
            <a:avLst>
              <a:gd name="adj" fmla="val 323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Box 20"/>
          <p:cNvSpPr txBox="1"/>
          <p:nvPr/>
        </p:nvSpPr>
        <p:spPr>
          <a:xfrm>
            <a:off x="6575160" y="5983957"/>
            <a:ext cx="7261450" cy="638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Интеграция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"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советов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дня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"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для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повышения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вовлеченности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750" dirty="0" err="1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студентов</a:t>
            </a: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 pitchFamily="34" charset="-120"/>
              </a:rPr>
              <a:t>.</a:t>
            </a:r>
            <a:endParaRPr lang="en-US" sz="1750" dirty="0">
              <a:latin typeface="Inter"/>
              <a:ea typeface="Inter"/>
            </a:endParaRPr>
          </a:p>
          <a:p>
            <a:endParaRPr lang="ru-RU" dirty="0"/>
          </a:p>
        </p:txBody>
      </p:sp>
      <p:sp>
        <p:nvSpPr>
          <p:cNvPr id="22" name="Text 2"/>
          <p:cNvSpPr/>
          <p:nvPr/>
        </p:nvSpPr>
        <p:spPr>
          <a:xfrm>
            <a:off x="6749057" y="5663616"/>
            <a:ext cx="15592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Вовлечение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7583" y="2909173"/>
            <a:ext cx="10070187" cy="596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Идея решения: Цифровой гид по кампусу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7583" y="3791426"/>
            <a:ext cx="1329523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разработали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CampusWay,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котор</a:t>
            </a:r>
            <a:r>
              <a:rPr lang="ru-RU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ый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станет незаменимым инструментом для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каждого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студента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обеспечивая удобство и доступность информации.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67583" y="4616291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723" y="4616291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949762" y="4829889"/>
            <a:ext cx="2894886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Интуитивная навигация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49762" y="5242322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 поиск аудиторий, кабинетов и других объектов инфраструктуры университета.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0569" y="4616291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7709" y="4616291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7692747" y="4829889"/>
            <a:ext cx="2431256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Календарь событий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692747" y="5242322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Актуальная информация о всех университетских мероприятиях, лекциях и встречах.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7583" y="6256973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723" y="6256973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949762" y="6470571"/>
            <a:ext cx="238458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Каталог клубов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49762" y="6883003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список студенческих организаций с описанием деятельности и контактами.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10569" y="6256973"/>
            <a:ext cx="6552248" cy="1449943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87709" y="6256973"/>
            <a:ext cx="91440" cy="1449943"/>
          </a:xfrm>
          <a:prstGeom prst="roundRect">
            <a:avLst>
              <a:gd name="adj" fmla="val 87624"/>
            </a:avLst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7692747" y="6470571"/>
            <a:ext cx="243911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Адаптивный дизайн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7692747" y="6883003"/>
            <a:ext cx="6056471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доступно с любого устройства – от настольного компьютера до мобильного телефона.</a:t>
            </a:r>
            <a:endParaRPr lang="en-US" sz="15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684" y="7785735"/>
            <a:ext cx="2595715" cy="44386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38BED0A-8E7C-CCCF-0B17-8E835FA00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000" y="32945"/>
            <a:ext cx="11308465" cy="28762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09161"/>
            <a:ext cx="9287708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Технологический стек CampusWay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520" y="1980367"/>
            <a:ext cx="13167360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создания CampusWay мы использовали современные и надежные технологии, обеспечивающие стабильность, гибкость и масштабируемость проекта.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4408"/>
            <a:ext cx="626983" cy="626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772614"/>
            <a:ext cx="3104317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 Flask (Python)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31520" y="422445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Легковесный и мощный фреймворк для быстрой разработки серверной части приложения.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812" y="2884408"/>
            <a:ext cx="626983" cy="6269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5812" y="3772614"/>
            <a:ext cx="4241363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 HTML, CSS, JavaScript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445812" y="422445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Стандартные веб-технологии для создания интерактивного и отзывчивого пользовательского интерфейса.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731520" y="6199584"/>
            <a:ext cx="2951917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Данные: JSON-файлы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31520" y="665142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Эффективное хранение и управление информацией об аудиториях, событиях и клубах.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812" y="5311378"/>
            <a:ext cx="626983" cy="6269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5812" y="6199584"/>
            <a:ext cx="2717244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Адаптивная верстка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445812" y="6651427"/>
            <a:ext cx="6453068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Обеспечение корректного отображения и функциональности на любых устройствах и разрешениях экрана.</a:t>
            </a:r>
            <a:endParaRPr lang="en-US" sz="16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7302" y="7136607"/>
            <a:ext cx="2163097" cy="1092993"/>
          </a:xfrm>
          <a:prstGeom prst="rect">
            <a:avLst/>
          </a:prstGeom>
        </p:spPr>
      </p:pic>
      <p:pic>
        <p:nvPicPr>
          <p:cNvPr id="20" name="Рисунок 19" descr="Список со сплошной заливкой">
            <a:extLst>
              <a:ext uri="{FF2B5EF4-FFF2-40B4-BE49-F238E27FC236}">
                <a16:creationId xmlns:a16="http://schemas.microsoft.com/office/drawing/2014/main" id="{3102D700-FA11-8A54-6F36-3B0B3CAFE4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319" y="5449906"/>
            <a:ext cx="689491" cy="6894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25" y="664726"/>
            <a:ext cx="9714548" cy="58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План работы по реализации CampusWay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7225" y="1626989"/>
            <a:ext cx="13315950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разработали четкий план из шести ключевых этапов, который позволит нам эффективно </a:t>
            </a: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реализовать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7225" y="2438995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7225" y="2735223"/>
            <a:ext cx="656403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657225" y="2874764"/>
            <a:ext cx="259044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потребностей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225" y="3280886"/>
            <a:ext cx="656403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Глубокое изучение нужд и ожиданий студентов и преподавателей для формирования функциональных требований.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09021" y="2438995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09021" y="2735223"/>
            <a:ext cx="656415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409021" y="2874764"/>
            <a:ext cx="361640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Проектирование архитектуры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09021" y="3280886"/>
            <a:ext cx="6564154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надежной и масштабируемой структуры приложения.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4210169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7225" y="4506397"/>
            <a:ext cx="656403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57225" y="4645938"/>
            <a:ext cx="267212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Разработка прототипа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25" y="5052060"/>
            <a:ext cx="656403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минимально жизнеспособного продукта для тестирования основных функций.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09021" y="4210169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409021" y="4506397"/>
            <a:ext cx="656415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409021" y="4645938"/>
            <a:ext cx="278368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Наполнение контентом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09021" y="5052060"/>
            <a:ext cx="656415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и интеграция актуальных данных об аудиториях, событиях и клубах.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7225" y="5981343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7225" y="6277570"/>
            <a:ext cx="656403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57225" y="6417112"/>
            <a:ext cx="319837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Тестирование и доработка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7225" y="6823234"/>
            <a:ext cx="656403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Тщательная проверка функциональности и исправление выявленных недочетов.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09021" y="5981343"/>
            <a:ext cx="187762" cy="23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409021" y="6277570"/>
            <a:ext cx="656415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7409021" y="6417112"/>
            <a:ext cx="234731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Запуск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09021" y="6823234"/>
            <a:ext cx="656415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Официальный релиз CampusWay и его внедрение в университетскую жизнь.</a:t>
            </a:r>
            <a:endParaRPr lang="en-US" dirty="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781" y="7240938"/>
            <a:ext cx="1956618" cy="9886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136" y="643771"/>
            <a:ext cx="9216390" cy="62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Необходимые ресурсы для проекта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4136" y="1674852"/>
            <a:ext cx="13222129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успешной реализации CampusWay нам потребуется ряд ключевых инструментов и данных, которые обеспечат эффективную разработку и поддержку проекта.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36" y="2545080"/>
            <a:ext cx="3116937" cy="3116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4136" y="5863114"/>
            <a:ext cx="251507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3, Flask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4136" y="6298049"/>
            <a:ext cx="311693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для бэкенд-разработки, обеспечивающая гибкость и производительность.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533" y="2545080"/>
            <a:ext cx="3116937" cy="31169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72533" y="5863114"/>
            <a:ext cx="311693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Редактор кода (VS Code)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072532" y="6298049"/>
            <a:ext cx="3116937" cy="96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Удобная среда для разработки с широкими возможностями для написания и отладки кода.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930" y="2545080"/>
            <a:ext cx="3116937" cy="31169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0930" y="5863114"/>
            <a:ext cx="309681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для контроля версий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440930" y="6298049"/>
            <a:ext cx="311693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контроля версий для совместной работы команды и отслеживания изменений в коде.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9327" y="2545080"/>
            <a:ext cx="3116937" cy="31169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09327" y="5863114"/>
            <a:ext cx="285404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Данные университета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0809327" y="6298049"/>
            <a:ext cx="311693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Актуальная информация об аудиториях, расписании занятий и местах проведения мероприятий.</a:t>
            </a:r>
            <a:endParaRPr lang="en-US" sz="1600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3948" y="7235969"/>
            <a:ext cx="1966452" cy="993631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81931" y="2439352"/>
            <a:ext cx="6528138" cy="32640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88" y="463510"/>
            <a:ext cx="8351044" cy="52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00"/>
              </a:lnSpc>
            </a:pPr>
            <a:r>
              <a:rPr lang="en-US" sz="3300" b="1" dirty="0" err="1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Наша</a:t>
            </a:r>
            <a:r>
              <a:rPr lang="en-US" sz="3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Команда</a:t>
            </a:r>
            <a:r>
              <a:rPr lang="en-US" sz="3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: </a:t>
            </a:r>
            <a:r>
              <a:rPr lang="en-US" sz="3300" b="1" dirty="0" err="1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Двигатель</a:t>
            </a:r>
            <a:r>
              <a:rPr lang="en-US" sz="33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300" b="1" dirty="0" err="1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CampusWay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8288" y="1215629"/>
            <a:ext cx="13453824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Познакомьтесь с командой, стоящей за разработкой CampusWay – группой талантливых и преданных своему делу студентов, каждый из которых вносит свой уникальный вклад в проект.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88288" y="2051804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8433" y="2398395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631" y="2219801"/>
            <a:ext cx="528911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>
                <a:ea typeface="Roboto Condensed Light" pitchFamily="2" charset="0"/>
                <a:cs typeface="Arial" panose="020B0604020202020204" pitchFamily="34" charset="0"/>
              </a:rPr>
              <a:t>Зарипов Дамир</a:t>
            </a: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– Team Lead, backend-</a:t>
            </a:r>
            <a:r>
              <a:rPr lang="en-US" b="1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разработка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8631" y="2583299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общую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координацию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проекта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8288" y="3228261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8433" y="3574852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630" y="3396258"/>
            <a:ext cx="549468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>
                <a:ea typeface="Roboto Condensed Light" pitchFamily="2" charset="0"/>
                <a:cs typeface="Arial" panose="020B0604020202020204" pitchFamily="34" charset="0"/>
              </a:rPr>
              <a:t>Ярославцев Михаил</a:t>
            </a: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 –</a:t>
            </a:r>
            <a:r>
              <a:rPr lang="en-US" b="1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Дизайнер</a:t>
            </a: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 </a:t>
            </a:r>
            <a:r>
              <a:rPr lang="en-US" b="1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интерфейсов</a:t>
            </a:r>
            <a:r>
              <a:rPr lang="ru-RU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, аналитик</a:t>
            </a:r>
            <a:endParaRPr lang="en-US" dirty="0"/>
          </a:p>
          <a:p>
            <a:pPr>
              <a:lnSpc>
                <a:spcPts val="2050"/>
              </a:lnSpc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28631" y="3759756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пользовательский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</a:t>
            </a:r>
            <a:r>
              <a:rPr lang="ru-RU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8288" y="4404717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433" y="4751308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28631" y="4572714"/>
            <a:ext cx="488173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 err="1">
                <a:ea typeface="Roboto Condensed Light" pitchFamily="2" charset="0"/>
                <a:cs typeface="Arial" panose="020B0604020202020204" pitchFamily="34" charset="0"/>
              </a:rPr>
              <a:t>Исламгулов</a:t>
            </a:r>
            <a:r>
              <a:rPr lang="ru-RU" dirty="0">
                <a:ea typeface="Roboto Condensed Light" pitchFamily="2" charset="0"/>
                <a:cs typeface="Arial" panose="020B0604020202020204" pitchFamily="34" charset="0"/>
              </a:rPr>
              <a:t> Самир</a:t>
            </a: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 – Frontend-</a:t>
            </a:r>
            <a:r>
              <a:rPr lang="en-US" b="1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разработчик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28631" y="4936212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Разрабатывает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привлекательный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6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интуитивно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понятный дизайн приложения.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8288" y="5581174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8433" y="5927765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28631" y="5749171"/>
            <a:ext cx="392834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>
                <a:ea typeface="Roboto Condensed Light" pitchFamily="2" charset="0"/>
                <a:cs typeface="Arial" panose="020B0604020202020204" pitchFamily="34" charset="0"/>
              </a:rPr>
              <a:t>Политов Сергей</a:t>
            </a: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 – Контент-менеджер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28631" y="6112669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сбор, организацию и актуализацию всей информации в приложении.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8288" y="6757630"/>
            <a:ext cx="672346" cy="1008459"/>
          </a:xfrm>
          <a:prstGeom prst="roundRect">
            <a:avLst>
              <a:gd name="adj" fmla="val 36000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8433" y="7104221"/>
            <a:ext cx="252055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28631" y="6925628"/>
            <a:ext cx="3279815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ru-RU" dirty="0" err="1">
                <a:ea typeface="Roboto Condensed Light" pitchFamily="2" charset="0"/>
                <a:cs typeface="Arial" panose="020B0604020202020204" pitchFamily="34" charset="0"/>
              </a:rPr>
              <a:t>Утяев</a:t>
            </a:r>
            <a:r>
              <a:rPr lang="ru-RU" dirty="0">
                <a:ea typeface="Roboto Condensed Light" pitchFamily="2" charset="0"/>
                <a:cs typeface="Arial" panose="020B0604020202020204" pitchFamily="34" charset="0"/>
              </a:rPr>
              <a:t> Радмир</a:t>
            </a:r>
            <a:r>
              <a:rPr lang="en-US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 – </a:t>
            </a:r>
            <a:r>
              <a:rPr lang="en-US" b="1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Тестировщик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28631" y="7289125"/>
            <a:ext cx="12613481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Обеспечивает качество продукта, выявляя и документируя ошибки.</a:t>
            </a:r>
            <a:endParaRPr lang="en-US" sz="1600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6410325"/>
            <a:ext cx="360045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4952" y="815221"/>
            <a:ext cx="13500497" cy="1008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Этапы</a:t>
            </a: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6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реализации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87811" y="1532145"/>
            <a:ext cx="6669524" cy="1233845"/>
          </a:xfrm>
          <a:prstGeom prst="roundRect">
            <a:avLst>
              <a:gd name="adj" fmla="val 889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64951" y="1532145"/>
            <a:ext cx="91440" cy="1233845"/>
          </a:xfrm>
          <a:prstGeom prst="roundRect">
            <a:avLst>
              <a:gd name="adj" fmla="val 7414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40580" y="1716335"/>
            <a:ext cx="3724513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ru-RU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Создание</a:t>
            </a: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ru-RU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макета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0580" y="2065307"/>
            <a:ext cx="6232565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Был создан макет сайта, который вписывается в цифровую экосистему университета и соответствует всем требованиям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18664" y="1532145"/>
            <a:ext cx="6669643" cy="1233845"/>
          </a:xfrm>
          <a:prstGeom prst="roundRect">
            <a:avLst>
              <a:gd name="adj" fmla="val 889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407889" y="1532144"/>
            <a:ext cx="91440" cy="1233845"/>
          </a:xfrm>
          <a:prstGeom prst="roundRect">
            <a:avLst>
              <a:gd name="adj" fmla="val 7414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671434" y="1716335"/>
            <a:ext cx="2842974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возможностей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71434" y="2065307"/>
            <a:ext cx="6232684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Добавлены специальные разделы для </a:t>
            </a: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событий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клубов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что значительно расширяет интерактивность платформы и вовлеченность студентов.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7811" y="2927319"/>
            <a:ext cx="6669524" cy="1492091"/>
          </a:xfrm>
          <a:prstGeom prst="roundRect">
            <a:avLst>
              <a:gd name="adj" fmla="val 73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64951" y="2927319"/>
            <a:ext cx="91440" cy="1492091"/>
          </a:xfrm>
          <a:prstGeom prst="roundRect">
            <a:avLst>
              <a:gd name="adj" fmla="val 7414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40580" y="3111509"/>
            <a:ext cx="2063829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ru-RU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Поиск аудиторий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0580" y="3460481"/>
            <a:ext cx="6232565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 поиск аудиторий посредством ввода номера нужной аудитории и соответствующим её отображении на схеме.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18665" y="2927319"/>
            <a:ext cx="6669643" cy="1492091"/>
          </a:xfrm>
          <a:prstGeom prst="roundRect">
            <a:avLst>
              <a:gd name="adj" fmla="val 73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395804" y="2927319"/>
            <a:ext cx="91440" cy="1492091"/>
          </a:xfrm>
          <a:prstGeom prst="roundRect">
            <a:avLst>
              <a:gd name="adj" fmla="val 7414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671434" y="3111509"/>
            <a:ext cx="2637353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ru-RU" sz="1550" dirty="0">
                <a:latin typeface="Inter Bold"/>
                <a:ea typeface="Inter Bold"/>
              </a:rPr>
              <a:t>Хранение информации</a:t>
            </a:r>
            <a:endParaRPr lang="en-US" sz="1550" dirty="0">
              <a:latin typeface="Inter Bold"/>
              <a:ea typeface="Inter Bol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71434" y="3460481"/>
            <a:ext cx="6232684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Реализовано хранение информации об аудиториях, событиях и клубах в </a:t>
            </a:r>
            <a:r>
              <a:rPr lang="en-US" sz="12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r>
              <a:rPr lang="ru-RU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файлах, как альтернатива базе данных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71B0DEE-17D4-19D3-5619-178989191A7F}"/>
              </a:ext>
            </a:extLst>
          </p:cNvPr>
          <p:cNvSpPr/>
          <p:nvPr/>
        </p:nvSpPr>
        <p:spPr>
          <a:xfrm>
            <a:off x="12223789" y="7208613"/>
            <a:ext cx="2333683" cy="9536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020F8B2-9BB2-630D-F111-090A13263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15" t="3892" r="28684" b="4278"/>
          <a:stretch>
            <a:fillRect/>
          </a:stretch>
        </p:blipFill>
        <p:spPr>
          <a:xfrm>
            <a:off x="5253805" y="4510136"/>
            <a:ext cx="3601250" cy="3590282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A8004FA-93B7-99EC-6773-8C30706A3CE7}"/>
              </a:ext>
            </a:extLst>
          </p:cNvPr>
          <p:cNvSpPr/>
          <p:nvPr/>
        </p:nvSpPr>
        <p:spPr>
          <a:xfrm>
            <a:off x="6322263" y="6024942"/>
            <a:ext cx="1447332" cy="538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640" y="579834"/>
            <a:ext cx="13157121" cy="131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Результаты: функциональный прототип CampusWay готов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6640" y="2447330"/>
            <a:ext cx="7688818" cy="4965621"/>
          </a:xfrm>
          <a:prstGeom prst="roundRect">
            <a:avLst>
              <a:gd name="adj" fmla="val 178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44260" y="2454950"/>
            <a:ext cx="3836789" cy="3316962"/>
          </a:xfrm>
          <a:prstGeom prst="roundRect">
            <a:avLst>
              <a:gd name="adj" fmla="val 266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54643" y="2665333"/>
            <a:ext cx="3416022" cy="65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Рабочий прототип CampusWay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54643" y="3533418"/>
            <a:ext cx="3416022" cy="202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создали полностью функциональный прототип CampusWay, включающий поиск аудиторий, разделы событий и клубов, готовый к дальнейшему развитию.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581049" y="2454950"/>
            <a:ext cx="3836789" cy="3316962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81049" y="2454950"/>
            <a:ext cx="22860" cy="3316962"/>
          </a:xfrm>
          <a:prstGeom prst="roundRect">
            <a:avLst>
              <a:gd name="adj" fmla="val 38669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791432" y="2665333"/>
            <a:ext cx="2731294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Удобный интерфейс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4791432" y="3204567"/>
            <a:ext cx="3416022" cy="235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Интуитивно понятный и дружелюбный интерфейс обеспечивает максимальное удобство использования для студентов, делая взаимодействие с платформой простым и приятным.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4260" y="5771912"/>
            <a:ext cx="7673578" cy="1633418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44260" y="5771912"/>
            <a:ext cx="7673578" cy="22860"/>
          </a:xfrm>
          <a:prstGeom prst="roundRect">
            <a:avLst>
              <a:gd name="adj" fmla="val 38669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54643" y="5982295"/>
            <a:ext cx="3306842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Готовность к внедрению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54643" y="6521529"/>
            <a:ext cx="7252811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 готов к тестовому внедрению в учебном заведении для сбора обратной связи и дальнейшей оптимизации.</a:t>
            </a:r>
            <a:endParaRPr lang="en-US" sz="16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F2E34D2-3956-92AF-0D91-AEEED75102BF}"/>
              </a:ext>
            </a:extLst>
          </p:cNvPr>
          <p:cNvSpPr/>
          <p:nvPr/>
        </p:nvSpPr>
        <p:spPr>
          <a:xfrm>
            <a:off x="12223789" y="7208613"/>
            <a:ext cx="2333683" cy="9536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8951B01-4BD2-AA14-122F-B4BB45722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" t="-2863" r="9725" b="-631"/>
          <a:stretch>
            <a:fillRect/>
          </a:stretch>
        </p:blipFill>
        <p:spPr>
          <a:xfrm>
            <a:off x="8605361" y="2798621"/>
            <a:ext cx="5757213" cy="26323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015" y="704017"/>
            <a:ext cx="13242369" cy="123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Итоги и компетенции: наши достижения в процессе разработки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015" y="2340054"/>
            <a:ext cx="13242369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ходе работы над проектом мы не только создали полезный продукт, но и значительно улучшили свои профессиональные навыки и компетенции.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694015" y="3197662"/>
            <a:ext cx="495776" cy="495776"/>
          </a:xfrm>
          <a:prstGeom prst="rect">
            <a:avLst/>
          </a:prstGeom>
          <a:ln>
            <a:noFill/>
          </a:ln>
        </p:spPr>
      </p:pic>
      <p:sp>
        <p:nvSpPr>
          <p:cNvPr id="5" name="Text 2"/>
          <p:cNvSpPr/>
          <p:nvPr/>
        </p:nvSpPr>
        <p:spPr>
          <a:xfrm>
            <a:off x="694015" y="3941326"/>
            <a:ext cx="3085505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Веб-разработка на Flask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94015" y="4370070"/>
            <a:ext cx="6497241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Освоили 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фреймворк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Flask, научившись создавать надежные и масштабируемые веб-приложения.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4950BC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439144" y="3197662"/>
            <a:ext cx="495776" cy="49577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4"/>
          <p:cNvSpPr/>
          <p:nvPr/>
        </p:nvSpPr>
        <p:spPr>
          <a:xfrm>
            <a:off x="7439144" y="3941326"/>
            <a:ext cx="498693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Работа с JSON и адаптивным дизайном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39144" y="4370070"/>
            <a:ext cx="6497241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Приобрели опыт работы с форматом JSON для 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обмена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данным</a:t>
            </a:r>
            <a:r>
              <a:rPr lang="ru-RU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</a:t>
            </a:r>
            <a:r>
              <a:rPr lang="ru-RU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r>
              <a:rPr lang="ru-RU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их последующим использованием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694015" y="5718572"/>
            <a:ext cx="495776" cy="495776"/>
          </a:xfrm>
          <a:prstGeom prst="rect">
            <a:avLst/>
          </a:prstGeom>
          <a:ln>
            <a:noFill/>
          </a:ln>
        </p:spPr>
      </p:pic>
      <p:sp>
        <p:nvSpPr>
          <p:cNvPr id="11" name="Text 6"/>
          <p:cNvSpPr/>
          <p:nvPr/>
        </p:nvSpPr>
        <p:spPr>
          <a:xfrm>
            <a:off x="694015" y="6462236"/>
            <a:ext cx="342364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Управление версиями с Git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694015" y="6890980"/>
            <a:ext cx="6497241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Улучшили навыки использования Git для эффективного контроля версий и совместной работы.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144" y="5718572"/>
            <a:ext cx="495776" cy="495776"/>
          </a:xfrm>
          <a:prstGeom prst="rect">
            <a:avLst/>
          </a:prstGeom>
          <a:ln>
            <a:noFill/>
          </a:ln>
        </p:spPr>
      </p:pic>
      <p:sp>
        <p:nvSpPr>
          <p:cNvPr id="14" name="Text 8"/>
          <p:cNvSpPr/>
          <p:nvPr/>
        </p:nvSpPr>
        <p:spPr>
          <a:xfrm>
            <a:off x="7439144" y="6462236"/>
            <a:ext cx="551890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Командная работа и проектное управление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39144" y="6890980"/>
            <a:ext cx="6497241" cy="6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Значительно укрепили навыки командной работы, коммуникации и управления проектами, что стало ключевым фактором успеха.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FBDEBDF-4121-E31F-0397-D4CAC81EB5BF}"/>
              </a:ext>
            </a:extLst>
          </p:cNvPr>
          <p:cNvSpPr/>
          <p:nvPr/>
        </p:nvSpPr>
        <p:spPr>
          <a:xfrm>
            <a:off x="12223789" y="7208613"/>
            <a:ext cx="2333683" cy="9536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935" y="633293"/>
            <a:ext cx="10108525" cy="55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Перспективы CampusWay: взгляд в будущее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1628596"/>
            <a:ext cx="266938" cy="333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1222" y="1656517"/>
            <a:ext cx="343507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Интерактивная карта кампуса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201222" y="2112526"/>
            <a:ext cx="589692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планах — добавление полноценной интерактивной 3D-карты кампуса для улучшенной навигации и визуализации.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3010079"/>
            <a:ext cx="266938" cy="333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1222" y="3037999"/>
            <a:ext cx="310026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Интеграция с расписанием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201222" y="3494008"/>
            <a:ext cx="5896928" cy="854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Планируется интеграция с официальным расписанием университета для предоставления актуальной информации о занятиях и мероприятиях.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4676358"/>
            <a:ext cx="266938" cy="333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1222" y="4704278"/>
            <a:ext cx="2753797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Мобильное приложение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201222" y="5160288"/>
            <a:ext cx="5896928" cy="854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нативного мобильного приложения для iOS и Android, обеспечивающего максимальное удобство использования в любое время и в любом месте.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6342638"/>
            <a:ext cx="266938" cy="3336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1222" y="6370558"/>
            <a:ext cx="459747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Коммерциализация и масштабирование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201222" y="6826568"/>
            <a:ext cx="5896928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Рассматривается возможность адаптации и коммерческого предложения CampusWay для других высших учебных заведений.</a:t>
            </a:r>
            <a:endParaRPr lang="en-US" sz="1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6BA3E81-3CDA-5576-7219-CC198CE83EA0}"/>
              </a:ext>
            </a:extLst>
          </p:cNvPr>
          <p:cNvSpPr/>
          <p:nvPr/>
        </p:nvSpPr>
        <p:spPr>
          <a:xfrm>
            <a:off x="12223789" y="7208613"/>
            <a:ext cx="2333683" cy="9536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F633801A-FEF6-0B8F-39B7-9AC36FB377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C56F32B9-C539-0FAB-A8DD-DE2519EC04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13010" y="5587483"/>
            <a:ext cx="4002657" cy="400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BB43062A-6E80-8F88-E4C0-9A624AA5E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2FF570B-91A9-424F-3E42-314A643FC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555896"/>
            <a:ext cx="6124984" cy="451925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63BC4C1-CB3D-D290-09AF-94D7932BE2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126" t="25120" r="9268" b="21379"/>
          <a:stretch>
            <a:fillRect/>
          </a:stretch>
        </p:blipFill>
        <p:spPr>
          <a:xfrm>
            <a:off x="9295347" y="1147943"/>
            <a:ext cx="2872226" cy="752795"/>
          </a:xfrm>
          <a:prstGeom prst="rect">
            <a:avLst/>
          </a:prstGeom>
        </p:spPr>
      </p:pic>
      <p:sp>
        <p:nvSpPr>
          <p:cNvPr id="26" name="Знак умножения 25">
            <a:extLst>
              <a:ext uri="{FF2B5EF4-FFF2-40B4-BE49-F238E27FC236}">
                <a16:creationId xmlns:a16="http://schemas.microsoft.com/office/drawing/2014/main" id="{D145791E-5871-52E8-F097-7F2D9710081A}"/>
              </a:ext>
            </a:extLst>
          </p:cNvPr>
          <p:cNvSpPr/>
          <p:nvPr/>
        </p:nvSpPr>
        <p:spPr>
          <a:xfrm>
            <a:off x="9955693" y="2262702"/>
            <a:ext cx="1646309" cy="931230"/>
          </a:xfrm>
          <a:prstGeom prst="mathMultipl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45617" y="608134"/>
            <a:ext cx="6739166" cy="654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ru-RU" sz="5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Спасибо за внимание!</a:t>
            </a:r>
            <a:endParaRPr lang="en-US" sz="5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83FEDF1-49FA-0D7E-8278-917B90CD22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28076" y="1871708"/>
            <a:ext cx="4130796" cy="4130796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263AE66-7921-0D1F-7F63-6436A2BA189C}"/>
              </a:ext>
            </a:extLst>
          </p:cNvPr>
          <p:cNvSpPr/>
          <p:nvPr/>
        </p:nvSpPr>
        <p:spPr>
          <a:xfrm>
            <a:off x="12223789" y="7208613"/>
            <a:ext cx="2333683" cy="9536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Image 0">
            <a:extLst>
              <a:ext uri="{FF2B5EF4-FFF2-40B4-BE49-F238E27FC236}">
                <a16:creationId xmlns:a16="http://schemas.microsoft.com/office/drawing/2014/main" id="{7727753F-79AB-6C49-93AF-1DE4EFB05E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8171530" y="1871708"/>
            <a:ext cx="4130796" cy="41307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1074</Words>
  <Application>Microsoft Office PowerPoint</Application>
  <PresentationFormat>Произвольный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Inter</vt:lpstr>
      <vt:lpstr>Inter Bold</vt:lpstr>
      <vt:lpstr>Inter Light</vt:lpstr>
      <vt:lpstr>Roboto Condensed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радмир альбертович</dc:creator>
  <cp:lastModifiedBy>Самир Исламгулов</cp:lastModifiedBy>
  <cp:revision>19</cp:revision>
  <dcterms:created xsi:type="dcterms:W3CDTF">2025-09-23T11:34:16Z</dcterms:created>
  <dcterms:modified xsi:type="dcterms:W3CDTF">2025-09-25T00:34:21Z</dcterms:modified>
</cp:coreProperties>
</file>